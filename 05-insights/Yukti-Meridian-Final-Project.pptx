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embeddedFontLst>
    <p:embeddedFont>
      <p:font typeface="Helvetica Neu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UoHZ/3nZWQqLhwMZFEnAluC4a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9E9B40-0C37-45E3-9D51-A15D9162EB7D}">
  <a:tblStyle styleId="{DB9E9B40-0C37-45E3-9D51-A15D9162EB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customschemas.google.com/relationships/presentationmetadata" Target="meta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yuktiaggarwal29gh/product-leadership-fina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yuktiaggarwal29gh/product-leadership-fina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yuktiaggarwal29gh/product-leadership-fina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yuktiaggarwal29gh/product-leadership-fina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0" y="2468880"/>
            <a:ext cx="1216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MERIDIAN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0" y="2788920"/>
            <a:ext cx="12161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Product Leadership Final Project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5394960" y="39319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0F7B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1"/>
          <p:cNvSpPr txBox="1"/>
          <p:nvPr/>
        </p:nvSpPr>
        <p:spPr>
          <a:xfrm>
            <a:off x="0" y="4114800"/>
            <a:ext cx="1216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EE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8DEE5"/>
                </a:solidFill>
                <a:latin typeface="Calibri"/>
                <a:ea typeface="Calibri"/>
                <a:cs typeface="Calibri"/>
                <a:sym typeface="Calibri"/>
              </a:rPr>
              <a:t>Yukti Aggarwal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0" y="4434840"/>
            <a:ext cx="1216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August 27,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F7B8A"/>
                </a:solidFill>
                <a:latin typeface="Georgia"/>
                <a:ea typeface="Georgia"/>
                <a:cs typeface="Georgia"/>
                <a:sym typeface="Georgia"/>
              </a:rPr>
              <a:t>01 ·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Product Strategy — Playing to Win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1417320"/>
            <a:ext cx="3429000" cy="2240280"/>
          </a:xfrm>
          <a:prstGeom prst="roundRect">
            <a:avLst>
              <a:gd fmla="val 3265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777240" y="15819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Winning Aspiration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777240" y="1947672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Meridian the first place field teams turn to for job-site documentation — mobile speed, enterprise trust.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160520" y="1417320"/>
            <a:ext cx="3429000" cy="2240280"/>
          </a:xfrm>
          <a:prstGeom prst="roundRect">
            <a:avLst>
              <a:gd fmla="val 3265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 txBox="1"/>
          <p:nvPr/>
        </p:nvSpPr>
        <p:spPr>
          <a:xfrm>
            <a:off x="4389120" y="15819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Where to Play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4389120" y="1947672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Mid-market GCs ($5M–$50M) at risk of churn — primary. $50M+ enterprise accounts — protect &amp; deepen. Core use case: daily field documentation only.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772400" y="1417320"/>
            <a:ext cx="3429000" cy="2240280"/>
          </a:xfrm>
          <a:prstGeom prst="roundRect">
            <a:avLst>
              <a:gd fmla="val 3265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8001000" y="158191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How to Win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8001000" y="1947672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Field speed + enterprise system of record, combined. Field data flows into finance/compliance without enterprise complexity slowing the field down.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3858768"/>
            <a:ext cx="10652760" cy="868680"/>
          </a:xfrm>
          <a:prstGeom prst="roundRect">
            <a:avLst>
              <a:gd fmla="val 8421" name="adj"/>
            </a:avLst>
          </a:prstGeom>
          <a:solidFill>
            <a:srgbClr val="FBEFEA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777240" y="39684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52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7522A"/>
                </a:solidFill>
                <a:latin typeface="Calibri"/>
                <a:ea typeface="Calibri"/>
                <a:cs typeface="Calibri"/>
                <a:sym typeface="Calibri"/>
              </a:rPr>
              <a:t>HARD 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777240" y="4242816"/>
            <a:ext cx="10195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We will not remove or degrade finance/compliance capabilities proven to drive enterprise retention — but we will reconsider investment or architecture where they unnecessarily constrain field adoption.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548640" y="49103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OKR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48640" y="5184648"/>
            <a:ext cx="10652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Make Meridian indispensable to field teams while protecting the enterprise capabilities that drive system-of-record value.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5568696"/>
            <a:ext cx="34290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731520" y="5641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KR1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31520" y="5843016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12% → 55%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731520" y="6117336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Field DAU (12 months)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60520" y="5568696"/>
            <a:ext cx="34290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4343400" y="5641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KR2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4343400" y="5843016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≥95% / ≤2pp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4343400" y="6117336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Finance/compliance adoption held; enterprise renewal decline capped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772400" y="5568696"/>
            <a:ext cx="34290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7955280" y="5641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KR3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7955280" y="5843016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22% → 10%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7955280" y="6117336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Mid-market ($5M–$50M) churn (12 months)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548640" y="6409934"/>
            <a:ext cx="1065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Full deliverable: </a:t>
            </a:r>
            <a:r>
              <a:rPr i="1"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https://github.com/yuktiaggarwal29gh/product-leadership-final</a:t>
            </a:r>
            <a:r>
              <a:rPr i="1" lang="en-US" sz="1050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 &gt; 01-strategy/strategy-and-okrs.md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F7B8A"/>
                </a:solidFill>
                <a:latin typeface="Georgia"/>
                <a:ea typeface="Georgia"/>
                <a:cs typeface="Georgia"/>
                <a:sym typeface="Georgia"/>
              </a:rPr>
              <a:t>02 ·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Outcome Roadmap — Now / Next / Later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1554480"/>
            <a:ext cx="3429000" cy="3200400"/>
          </a:xfrm>
          <a:prstGeom prst="roundRect">
            <a:avLst>
              <a:gd fmla="val 2286" name="adj"/>
            </a:avLst>
          </a:prstGeom>
          <a:solidFill>
            <a:srgbClr val="E7F0EE"/>
          </a:solidFill>
          <a:ln cap="flat" cmpd="sng" w="12700">
            <a:solidFill>
              <a:srgbClr val="E7F0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548640" y="1554480"/>
            <a:ext cx="3429000" cy="457200"/>
          </a:xfrm>
          <a:prstGeom prst="rect">
            <a:avLst/>
          </a:prstGeom>
          <a:solidFill>
            <a:srgbClr val="5B82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731520" y="1554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749808" y="2194560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Simplify daily log: 14 → 4 fields — faster than camera + group 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749808" y="2724912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Ship dedicated foreman-facing mobile app, independent of PM web 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749808" y="3255264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Reliable offline capture/sync — removes connectivity as an adoption blocker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160520" y="1554480"/>
            <a:ext cx="3429000" cy="3200400"/>
          </a:xfrm>
          <a:prstGeom prst="roundRect">
            <a:avLst>
              <a:gd fmla="val 2286" name="adj"/>
            </a:avLst>
          </a:prstGeom>
          <a:solidFill>
            <a:srgbClr val="FDF3E3"/>
          </a:solidFill>
          <a:ln cap="flat" cmpd="sng" w="12700">
            <a:solidFill>
              <a:srgbClr val="FDF3E3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160520" y="1554480"/>
            <a:ext cx="3429000" cy="457200"/>
          </a:xfrm>
          <a:prstGeom prst="rect">
            <a:avLst/>
          </a:prstGeom>
          <a:solidFill>
            <a:srgbClr val="B98A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4343400" y="1554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4361688" y="2194560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Validate compliance-checklist automation: retention driver or sales chip?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4361688" y="2724912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Fix broken Procore integration (2 clients affected)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4361688" y="3255264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Push notifications for schedule changes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4361688" y="3785616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Instrument field-adoption cohort tracking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4361688" y="4315968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Data-model migration for multi-project dashboards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772400" y="1554480"/>
            <a:ext cx="3429000" cy="3200400"/>
          </a:xfrm>
          <a:prstGeom prst="roundRect">
            <a:avLst>
              <a:gd fmla="val 2286" name="adj"/>
            </a:avLst>
          </a:prstGeom>
          <a:solidFill>
            <a:srgbClr val="EDEDF4"/>
          </a:solidFill>
          <a:ln cap="flat" cmpd="sng" w="12700">
            <a:solidFill>
              <a:srgbClr val="EDEDF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772400" y="1554480"/>
            <a:ext cx="3429000" cy="457200"/>
          </a:xfrm>
          <a:prstGeom prst="rect">
            <a:avLst/>
          </a:prstGeom>
          <a:solidFill>
            <a:srgbClr val="5B5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7955280" y="155448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LATER (bets, not commitments)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7973568" y="2194560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Executive reporting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7973568" y="2724912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Subcontractor portal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973568" y="3255264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Time-tracking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7973568" y="3785616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AI-assisted RFI drafting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7973568" y="4315968"/>
            <a:ext cx="30266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Web UI refresh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48640" y="4983480"/>
            <a:ext cx="10652760" cy="1234440"/>
          </a:xfrm>
          <a:prstGeom prst="roundRect">
            <a:avLst>
              <a:gd fmla="val 5926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777240" y="50932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TRADE-OFF MEMO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777240" y="5367528"/>
            <a:ext cx="10195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Sequenced first: </a:t>
            </a: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the three Now bets — highest cost of delay against KR1, and they form one minimum-viable field experience together.</a:t>
            </a:r>
            <a:b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Pushed out: </a:t>
            </a: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Procore fix, compliance validation, cohort tracking — lower/different cost of delay, or dependent on Now-tier data.</a:t>
            </a:r>
            <a:b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Cut entirely: </a:t>
            </a: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exec dashboard, time-tracking, weather integration — commercially loud, zero field-adoption impact.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548640" y="6409934"/>
            <a:ext cx="1065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Full deliverable: </a:t>
            </a:r>
            <a:r>
              <a:rPr i="1"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https://github.com/yuktiaggarwal29gh/product-leadership-final</a:t>
            </a:r>
            <a:r>
              <a:rPr i="1" lang="en-US" sz="1050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i="1" lang="en-US" sz="1050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02-roadmap/outcome-roadmap.md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F7B8A"/>
                </a:solidFill>
                <a:latin typeface="Georgia"/>
                <a:ea typeface="Georgia"/>
                <a:cs typeface="Georgia"/>
                <a:sym typeface="Georgia"/>
              </a:rPr>
              <a:t>03 · TEAM CHARTER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What We Own · How We Decide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1554480"/>
            <a:ext cx="5212080" cy="4206240"/>
          </a:xfrm>
          <a:prstGeom prst="roundRect">
            <a:avLst>
              <a:gd fmla="val 1739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 txBox="1"/>
          <p:nvPr/>
        </p:nvSpPr>
        <p:spPr>
          <a:xfrm>
            <a:off x="77724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WHAT WE 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777240" y="214884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We 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868680" y="244144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Field-adoption bet: daily log, foreman app, offline sync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868680" y="273405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Field DAU as the leading metric (KR1)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777240" y="309981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868680" y="339242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Enterprise features (exec dashboard, portal, compliance auto)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868680" y="36850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Finance/compliance capability changes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868680" y="397764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Scheduling, estimating, ERP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777240" y="43434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Requires a joint 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868680" y="4636008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Engineering capacity shared with enterprise work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868680" y="4928616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Finance/compliance investment or architecture changes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868680" y="5221224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Renewal-tied commitments consuming roadmap capacity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943600" y="1554480"/>
            <a:ext cx="5669280" cy="4206240"/>
          </a:xfrm>
          <a:prstGeom prst="roundRect">
            <a:avLst>
              <a:gd fmla="val 1739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617220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HOW WE DECIDE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6172200" y="21945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PM 1 (Field)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8046720" y="21945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Field-experience scope &amp; sequencing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172200" y="25603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PM 2 (Enterprise)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8046720" y="25603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Enterprise scope &amp; renewal commitments, within the hard 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172200" y="2926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Foundations owner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8046720" y="29260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Tie-break on shared engineering capacity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6172200" y="3429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ESCALATION PATH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6263640" y="374904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PM 2 raises with PM 1 within 48 hrs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263640" y="4133088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Unresolved in 2 days → escalates to Foundations owner, in writing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263640" y="4517136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Decision within 2 business days — KR1 protected by default unless the ask is a proven retention driver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6263640" y="4901184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Outside disputes (e.g. enterprise sales) go to Foundations owner first, then exec sponsor if unresolved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263640" y="5285232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Every deferred Rock logged &amp; reviewed at quarterly strategy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48640" y="6409934"/>
            <a:ext cx="1065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Full deliverable: </a:t>
            </a:r>
            <a:r>
              <a:rPr i="1"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https://github.com/yuktiaggarwal29gh/product-leadership-final</a:t>
            </a:r>
            <a:r>
              <a:rPr i="1" lang="en-US" sz="1050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i="1" lang="en-US" sz="1050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03-team-charter/team-charter.md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F7B8A"/>
                </a:solidFill>
                <a:latin typeface="Georgia"/>
                <a:ea typeface="Georgia"/>
                <a:cs typeface="Georgia"/>
                <a:sym typeface="Georgia"/>
              </a:rPr>
              <a:t>04 · FINANCIAL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Business Case &amp; Kill Criteria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5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{DB9E9B40-0C37-45E3-9D51-A15D9162EB7D}</a:tableStyleId>
              </a:tblPr>
              <a:tblGrid>
                <a:gridCol w="1920250"/>
                <a:gridCol w="1371600"/>
                <a:gridCol w="33832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Assumption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Value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Source / rationale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74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744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CAC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B8A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7B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$8,500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1F243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Blended, mid-market GC field-led trials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744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LTV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B8A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7B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$42,000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1F243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~$14K ACV × 3-yr avg retention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744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Payback period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B8A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7B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~9 months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1F243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Standard SaaS benchmark for a healthy B2B motion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744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Investment required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B8A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7B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$1.2M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1F243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Eng/design/PM for field-adoption build, 2 quarters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44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A2744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Expected return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7B8A"/>
                        </a:buClr>
                        <a:buSzPts val="1100"/>
                        <a:buFont typeface="Helvetica Neue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7B8A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5:1 LTV:CAC</a:t>
                      </a:r>
                      <a:endParaRPr sz="11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430"/>
                        </a:buClr>
                        <a:buSzPts val="1000"/>
                        <a:buFont typeface="Helvetica Neue"/>
                        <a:buNone/>
                      </a:pPr>
                      <a:r>
                        <a:rPr lang="en-US" sz="1000" u="none" cap="none" strike="noStrike">
                          <a:solidFill>
                            <a:srgbClr val="1F243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Field-first bet paying back via mid-market volume</a:t>
                      </a:r>
                      <a:endParaRPr sz="1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5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5"/>
          <p:cNvSpPr/>
          <p:nvPr/>
        </p:nvSpPr>
        <p:spPr>
          <a:xfrm>
            <a:off x="548640" y="4754880"/>
            <a:ext cx="6675120" cy="1051560"/>
          </a:xfrm>
          <a:prstGeom prst="roundRect">
            <a:avLst>
              <a:gd fmla="val 6957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777240" y="4846320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744"/>
                </a:solidFill>
                <a:latin typeface="Calibri"/>
                <a:ea typeface="Calibri"/>
                <a:cs typeface="Calibri"/>
                <a:sym typeface="Calibri"/>
              </a:rPr>
              <a:t>THE CASE IN ONE PARAGRAPH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777240" y="512064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Enterprise is stable but plateauing; mid-market is actively churning to simpler, mobile-first competitors — a segment with lower CAC and faster payback than enterprise sales-led growth. Field adoption unlocks a cheaper growth motion and protects the enterprise base.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7452360" y="1554480"/>
            <a:ext cx="4160520" cy="4251960"/>
          </a:xfrm>
          <a:prstGeom prst="roundRect">
            <a:avLst>
              <a:gd fmla="val 1758" name="adj"/>
            </a:avLst>
          </a:prstGeom>
          <a:solidFill>
            <a:srgbClr val="FBEFEA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7680960" y="17373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522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C7522A"/>
                </a:solidFill>
                <a:latin typeface="Georgia"/>
                <a:ea typeface="Georgia"/>
                <a:cs typeface="Georgia"/>
                <a:sym typeface="Georgia"/>
              </a:rPr>
              <a:t>KILL CRITERIA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7680960" y="2148840"/>
            <a:ext cx="3703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If field DAU does not reach 25% of active field users by month 6, we will pause further engineering investment and reassess the field-adoption thesis before committing further headcount.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7680960" y="3383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5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7522A"/>
                </a:solidFill>
                <a:latin typeface="Calibri"/>
                <a:ea typeface="Calibri"/>
                <a:cs typeface="Calibri"/>
                <a:sym typeface="Calibri"/>
              </a:rPr>
              <a:t>WHAT WE'RE WATCHING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772400" y="37033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Metric: field DAU (% active field users)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7772400" y="41605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Threshold: 25% (halfway to 55% target)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7772400" y="46177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Timeline: month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7772400" y="50749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Consequence: pause investment, reassess thesis before further headcount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548640" y="6409934"/>
            <a:ext cx="10652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Full deliverable: </a:t>
            </a:r>
            <a:r>
              <a:rPr i="1" lang="en-US" sz="10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https://github.com/yuktiaggarwal29gh/product-leadership-final</a:t>
            </a:r>
            <a:r>
              <a:rPr i="1" lang="en-US" sz="1050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i="1" lang="en-US" sz="1050">
                <a:solidFill>
                  <a:srgbClr val="0F7B8A"/>
                </a:solidFill>
                <a:latin typeface="Calibri"/>
                <a:ea typeface="Calibri"/>
                <a:cs typeface="Calibri"/>
                <a:sym typeface="Calibri"/>
              </a:rPr>
              <a:t>04-financial-model/financial-model.md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B8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0F7B8A"/>
                </a:solidFill>
                <a:latin typeface="Georgia"/>
                <a:ea typeface="Georgia"/>
                <a:cs typeface="Georgia"/>
                <a:sym typeface="Georgia"/>
              </a:rPr>
              <a:t>05 · INDIVIDUAL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Friction, Learnings, Aha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48640" y="1737360"/>
            <a:ext cx="3429000" cy="4023360"/>
          </a:xfrm>
          <a:prstGeom prst="roundRect">
            <a:avLst>
              <a:gd fmla="val 2133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 txBox="1"/>
          <p:nvPr/>
        </p:nvSpPr>
        <p:spPr>
          <a:xfrm>
            <a:off x="777240" y="19659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Friction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777240" y="24231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Where did the work resist you? A moment the strategy, a stakeholder, or your own instinct pushed back.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777240" y="3383280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8DEE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4" name="Google Shape;154;p6"/>
          <p:cNvSpPr txBox="1"/>
          <p:nvPr/>
        </p:nvSpPr>
        <p:spPr>
          <a:xfrm>
            <a:off x="777240" y="352044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B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9AA1AB"/>
                </a:solidFill>
                <a:latin typeface="Calibri"/>
                <a:ea typeface="Calibri"/>
                <a:cs typeface="Calibri"/>
                <a:sym typeface="Calibri"/>
              </a:rPr>
              <a:t>The hardest part for me here was to resist on the backlog. The friction came in while trying to prioritize the backlog.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160520" y="1737360"/>
            <a:ext cx="3429000" cy="4023360"/>
          </a:xfrm>
          <a:prstGeom prst="roundRect">
            <a:avLst>
              <a:gd fmla="val 2133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4389120" y="19659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Learnings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389120" y="24231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What changed in how you think about product leadership — prioritization, trade-offs, or decision rights?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6"/>
          <p:cNvCxnSpPr/>
          <p:nvPr/>
        </p:nvCxnSpPr>
        <p:spPr>
          <a:xfrm>
            <a:off x="4389120" y="3383280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8DEE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9" name="Google Shape;159;p6"/>
          <p:cNvSpPr txBox="1"/>
          <p:nvPr/>
        </p:nvSpPr>
        <p:spPr>
          <a:xfrm>
            <a:off x="4389120" y="352044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B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9AA1AB"/>
                </a:solidFill>
                <a:latin typeface="Calibri"/>
                <a:ea typeface="Calibri"/>
                <a:cs typeface="Calibri"/>
                <a:sym typeface="Calibri"/>
              </a:rPr>
              <a:t>Product leadership means widening the lens.</a:t>
            </a:r>
            <a:endParaRPr sz="1600">
              <a:solidFill>
                <a:srgbClr val="9AA1A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1AB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9AA1AB"/>
                </a:solidFill>
                <a:latin typeface="Calibri"/>
                <a:ea typeface="Calibri"/>
                <a:cs typeface="Calibri"/>
                <a:sym typeface="Calibri"/>
              </a:rPr>
              <a:t>Move beyond “What should we build?” to understand who we serve, where we can win, what the business needs, what capabilities enable it, and what we must protect.</a:t>
            </a:r>
            <a:endParaRPr sz="1600">
              <a:solidFill>
                <a:srgbClr val="9AA1A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772400" y="1737360"/>
            <a:ext cx="3429000" cy="4023360"/>
          </a:xfrm>
          <a:prstGeom prst="roundRect">
            <a:avLst>
              <a:gd fmla="val 2133" name="adj"/>
            </a:avLst>
          </a:prstGeom>
          <a:solidFill>
            <a:srgbClr val="F4F6F8"/>
          </a:solidFill>
          <a:ln cap="flat" cmpd="sng" w="12700">
            <a:solidFill>
              <a:srgbClr val="E1E5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744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8001000" y="196596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4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A2744"/>
                </a:solidFill>
                <a:latin typeface="Georgia"/>
                <a:ea typeface="Georgia"/>
                <a:cs typeface="Georgia"/>
                <a:sym typeface="Georgia"/>
              </a:rPr>
              <a:t>Aha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8001000" y="2423160"/>
            <a:ext cx="2971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47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C6470"/>
                </a:solidFill>
                <a:latin typeface="Calibri"/>
                <a:ea typeface="Calibri"/>
                <a:cs typeface="Calibri"/>
                <a:sym typeface="Calibri"/>
              </a:rPr>
              <a:t>The single moment that reframed something — a diagnosis, a negotiation, a hard no.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6"/>
          <p:cNvCxnSpPr/>
          <p:nvPr/>
        </p:nvCxnSpPr>
        <p:spPr>
          <a:xfrm>
            <a:off x="8001000" y="3383280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8DEE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4" name="Google Shape;164;p6"/>
          <p:cNvSpPr txBox="1"/>
          <p:nvPr/>
        </p:nvSpPr>
        <p:spPr>
          <a:xfrm>
            <a:off x="8001000" y="352044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The real task of Product Leadership isn’t just making the right decisions—it’s knowing what must be true for those decisions to succeed.</a:t>
            </a:r>
            <a:endParaRPr>
              <a:solidFill>
                <a:srgbClr val="9999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74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0" y="2743200"/>
            <a:ext cx="1216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5394960" y="379476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0F7B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7"/>
          <p:cNvSpPr txBox="1"/>
          <p:nvPr/>
        </p:nvSpPr>
        <p:spPr>
          <a:xfrm>
            <a:off x="0" y="3977640"/>
            <a:ext cx="1216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EE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8DEE5"/>
                </a:solidFill>
                <a:latin typeface="Calibri"/>
                <a:ea typeface="Calibri"/>
                <a:cs typeface="Calibri"/>
                <a:sym typeface="Calibri"/>
              </a:rPr>
              <a:t>Meridian — Product Leadership Final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0" y="4343400"/>
            <a:ext cx="1216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C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C4"/>
                </a:solidFill>
                <a:latin typeface="Calibri"/>
                <a:ea typeface="Calibri"/>
                <a:cs typeface="Calibri"/>
                <a:sym typeface="Calibri"/>
              </a:rPr>
              <a:t>Yukti Aggarwal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2026-08-27T16:25:48Z</dcterms:created>
  <dc:creator>PptxGenJS</dc:creator>
</cp:coreProperties>
</file>